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3" d="100"/>
          <a:sy n="63" d="100"/>
        </p:scale>
        <p:origin x="728" y="5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1/14/2026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1/14/2026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image" Target="../media/image14.png"/><Relationship Id="rId5" Type="http://schemas.openxmlformats.org/officeDocument/2006/relationships/oleObject" Target="../embeddings/oleObject16.bin"/><Relationship Id="rId10" Type="http://schemas.openxmlformats.org/officeDocument/2006/relationships/image" Target="../media/image13.png"/><Relationship Id="rId4" Type="http://schemas.openxmlformats.org/officeDocument/2006/relationships/slideLayout" Target="../slideLayouts/slideLayout2.xml"/><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Created-Three Insight-Focused Charts (New Customers Only)</a:t>
            </a:r>
          </a:p>
        </p:txBody>
      </p:sp>
      <p:sp>
        <p:nvSpPr>
          <p:cNvPr id="2" name="Rectangle 1">
            <a:extLst>
              <a:ext uri="{FF2B5EF4-FFF2-40B4-BE49-F238E27FC236}">
                <a16:creationId xmlns:a16="http://schemas.microsoft.com/office/drawing/2014/main" id="{477E036F-AF50-32A5-AA87-4A97F3F6A88D}"/>
              </a:ext>
            </a:extLst>
          </p:cNvPr>
          <p:cNvSpPr/>
          <p:nvPr/>
        </p:nvSpPr>
        <p:spPr>
          <a:xfrm>
            <a:off x="388976" y="5299881"/>
            <a:ext cx="10933200" cy="1352381"/>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342900" indent="-342900">
              <a:buAutoNum type="arabicPeriod"/>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Double down on </a:t>
            </a: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the top-performing campaign–channel combination for new customers</a:t>
            </a: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as it consistently generates the highest new customer sales across channels .</a:t>
            </a:r>
          </a:p>
          <a:p>
            <a:pPr marL="342900" indent="-342900">
              <a:buAutoNum type="arabicPeriod"/>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The data shows that new customer revenue is concentrated in this combination, making it the most effective lever for driving incremental growth rather than relying on existing customers.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55" name="Picture 54" descr="chart1.png"/>
          <p:cNvPicPr>
            <a:picLocks noChangeAspect="1"/>
          </p:cNvPicPr>
          <p:nvPr/>
        </p:nvPicPr>
        <p:blipFill>
          <a:blip r:embed="rId9"/>
          <a:stretch>
            <a:fillRect/>
          </a:stretch>
        </p:blipFill>
        <p:spPr>
          <a:xfrm>
            <a:off x="36215" y="1605702"/>
            <a:ext cx="4116541" cy="3087406"/>
          </a:xfrm>
          <a:prstGeom prst="rect">
            <a:avLst/>
          </a:prstGeom>
        </p:spPr>
      </p:pic>
      <p:pic>
        <p:nvPicPr>
          <p:cNvPr id="56" name="Picture 55" descr="chart2.png"/>
          <p:cNvPicPr>
            <a:picLocks noChangeAspect="1"/>
          </p:cNvPicPr>
          <p:nvPr/>
        </p:nvPicPr>
        <p:blipFill>
          <a:blip r:embed="rId10"/>
          <a:stretch>
            <a:fillRect/>
          </a:stretch>
        </p:blipFill>
        <p:spPr>
          <a:xfrm>
            <a:off x="4152757" y="1664637"/>
            <a:ext cx="3824140" cy="2868105"/>
          </a:xfrm>
          <a:prstGeom prst="rect">
            <a:avLst/>
          </a:prstGeom>
        </p:spPr>
      </p:pic>
      <p:pic>
        <p:nvPicPr>
          <p:cNvPr id="57" name="Picture 56" descr="chart3.png"/>
          <p:cNvPicPr>
            <a:picLocks noChangeAspect="1"/>
          </p:cNvPicPr>
          <p:nvPr/>
        </p:nvPicPr>
        <p:blipFill>
          <a:blip r:embed="rId11"/>
          <a:stretch>
            <a:fillRect/>
          </a:stretch>
        </p:blipFill>
        <p:spPr>
          <a:xfrm>
            <a:off x="7976897" y="1585355"/>
            <a:ext cx="3929850" cy="2947387"/>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2.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195</TotalTime>
  <Words>65</Words>
  <Application>Microsoft Office PowerPoint</Application>
  <PresentationFormat>Widescreen</PresentationFormat>
  <Paragraphs>4</Paragraphs>
  <Slides>1</Slides>
  <Notes>0</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7" baseType="lpstr">
      <vt:lpstr>Arial</vt:lpstr>
      <vt:lpstr>Calibri</vt:lpstr>
      <vt:lpstr>Trebuchet MS</vt:lpstr>
      <vt:lpstr>BCG Grid 16:9</vt:lpstr>
      <vt:lpstr>think-cell Slide</vt:lpstr>
      <vt:lpstr>Created-Three Insight-Focused Charts (New Customers Only)</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Amita Verma</cp:lastModifiedBy>
  <cp:revision>10</cp:revision>
  <cp:lastPrinted>2016-04-06T18:59:25Z</cp:lastPrinted>
  <dcterms:created xsi:type="dcterms:W3CDTF">2025-04-28T17:07:03Z</dcterms:created>
  <dcterms:modified xsi:type="dcterms:W3CDTF">2026-01-14T18:02:08Z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